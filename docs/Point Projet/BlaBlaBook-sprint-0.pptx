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4608"/>
        <p:guide pos="2592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3542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480683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045256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1093087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49876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154786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26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0243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2998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200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5937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8713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277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465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176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283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586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103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143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267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414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732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0165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2979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871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4437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027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8E9E55-305E-DB6E-2204-231A31F5C51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98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147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3491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DFB428-2797-54A1-685C-B6EBB57C11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890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765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1980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F50BCD-4E60-D930-07BF-DB63903E8B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10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668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8414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874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5977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7713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3694533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121617453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034182550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502799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884287303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804174312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7352433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863108742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939770615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7080034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61144437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667877011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5334062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60557990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477556689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956369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51305003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277013111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1301158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05377495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266466476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5031910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06860850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414102019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media1.svg"/><Relationship Id="rId5" Type="http://schemas.openxmlformats.org/officeDocument/2006/relationships/image" Target="../media/image19.png"/><Relationship Id="rId6" Type="http://schemas.openxmlformats.org/officeDocument/2006/relationships/image" Target="../media/media2.svg"/><Relationship Id="rId7" Type="http://schemas.openxmlformats.org/officeDocument/2006/relationships/image" Target="../media/image20.png"/><Relationship Id="rId8" Type="http://schemas.openxmlformats.org/officeDocument/2006/relationships/image" Target="../media/media3.svg"/><Relationship Id="rId9" Type="http://schemas.openxmlformats.org/officeDocument/2006/relationships/image" Target="../media/image21.png"/><Relationship Id="rId10" Type="http://schemas.openxmlformats.org/officeDocument/2006/relationships/image" Target="../media/media4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media5.svg"/><Relationship Id="rId5" Type="http://schemas.openxmlformats.org/officeDocument/2006/relationships/image" Target="../media/image28.png"/><Relationship Id="rId6" Type="http://schemas.openxmlformats.org/officeDocument/2006/relationships/image" Target="../media/media6.sv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media7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media8.svg"/><Relationship Id="rId5" Type="http://schemas.openxmlformats.org/officeDocument/2006/relationships/image" Target="../media/image32.png"/><Relationship Id="rId6" Type="http://schemas.openxmlformats.org/officeDocument/2006/relationships/image" Target="../media/media9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media10.svg"/><Relationship Id="rId5" Type="http://schemas.openxmlformats.org/officeDocument/2006/relationships/image" Target="../media/image40.png"/><Relationship Id="rId6" Type="http://schemas.openxmlformats.org/officeDocument/2006/relationships/image" Target="../media/media11.svg"/><Relationship Id="rId7" Type="http://schemas.openxmlformats.org/officeDocument/2006/relationships/image" Target="../media/image41.png"/><Relationship Id="rId8" Type="http://schemas.openxmlformats.org/officeDocument/2006/relationships/image" Target="../media/media12.svg"/><Relationship Id="rId9" Type="http://schemas.openxmlformats.org/officeDocument/2006/relationships/image" Target="../media/image42.png"/><Relationship Id="rId10" Type="http://schemas.openxmlformats.org/officeDocument/2006/relationships/image" Target="../media/media13.sv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43783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1796409963" name="Text 0"/>
          <p:cNvSpPr/>
          <p:nvPr/>
        </p:nvSpPr>
        <p:spPr bwMode="auto">
          <a:xfrm>
            <a:off x="6280190" y="27965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BlaBlaBook</a:t>
            </a:r>
            <a:endParaRPr lang="en-US" sz="4450"/>
          </a:p>
        </p:txBody>
      </p:sp>
      <p:sp>
        <p:nvSpPr>
          <p:cNvPr id="407135024" name="Text 1"/>
          <p:cNvSpPr/>
          <p:nvPr/>
        </p:nvSpPr>
        <p:spPr bwMode="auto">
          <a:xfrm>
            <a:off x="6280190" y="359604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35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Plateforme de gestion de bibliothèque personnelle</a:t>
            </a:r>
            <a:endParaRPr lang="en-US" sz="3550"/>
          </a:p>
        </p:txBody>
      </p:sp>
      <p:sp>
        <p:nvSpPr>
          <p:cNvPr id="1679208124" name="Text 2"/>
          <p:cNvSpPr/>
          <p:nvPr/>
        </p:nvSpPr>
        <p:spPr bwMode="auto">
          <a:xfrm flipH="0" flipV="0">
            <a:off x="6280189" y="5070157"/>
            <a:ext cx="7556420" cy="2665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Projet Fullstack Web</a:t>
            </a:r>
            <a:endParaRPr lang="en-US" sz="175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  <a:defRPr/>
            </a:pPr>
            <a:endParaRPr sz="1400">
              <a:solidFill>
                <a:srgbClr val="272525"/>
              </a:solidFill>
              <a:latin typeface="Calibri"/>
              <a:cs typeface="Calibri"/>
            </a:endParaRPr>
          </a:p>
          <a:p>
            <a:pPr marL="0" indent="0" algn="l">
              <a:lnSpc>
                <a:spcPts val="2849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Equipe de 4 développeurs</a:t>
            </a:r>
            <a:r>
              <a:rPr lang="fr-FR" sz="1750">
                <a:latin typeface="Calibri"/>
                <a:ea typeface="Calibri"/>
                <a:cs typeface="Calibri"/>
              </a:rPr>
              <a:t> :</a:t>
            </a:r>
            <a:endParaRPr lang="en-US" sz="175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  <a:defRPr/>
            </a:pPr>
            <a:endParaRPr sz="1750">
              <a:latin typeface="Calibri"/>
              <a:cs typeface="Calibri"/>
            </a:endParaRPr>
          </a:p>
          <a:p>
            <a:pPr marL="678422" lvl="1" indent="-278372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400">
                <a:latin typeface="Calibri"/>
                <a:ea typeface="Calibri"/>
                <a:cs typeface="Calibri"/>
              </a:rPr>
              <a:t>Ophélie CUNY</a:t>
            </a:r>
            <a:endParaRPr sz="1400">
              <a:latin typeface="Calibri"/>
              <a:ea typeface="Calibri"/>
              <a:cs typeface="Calibri"/>
            </a:endParaRPr>
          </a:p>
          <a:p>
            <a:pPr marL="678422" lvl="1" indent="-278372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400">
                <a:latin typeface="Calibri"/>
                <a:ea typeface="Calibri"/>
                <a:cs typeface="Calibri"/>
              </a:rPr>
              <a:t>Christopher CART</a:t>
            </a:r>
            <a:endParaRPr sz="1400">
              <a:latin typeface="Calibri"/>
              <a:ea typeface="Calibri"/>
              <a:cs typeface="Calibri"/>
            </a:endParaRPr>
          </a:p>
          <a:p>
            <a:pPr marL="678422" lvl="1" indent="-278372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400">
                <a:latin typeface="Calibri"/>
                <a:ea typeface="Calibri"/>
                <a:cs typeface="Calibri"/>
              </a:rPr>
              <a:t>Rémi </a:t>
            </a:r>
            <a:r>
              <a:rPr lang="fr-FR" sz="1400">
                <a:latin typeface="Calibri"/>
                <a:ea typeface="Calibri"/>
                <a:cs typeface="Calibri"/>
              </a:rPr>
              <a:t>CLOUET</a:t>
            </a:r>
            <a:endParaRPr sz="1400">
              <a:latin typeface="Calibri"/>
              <a:ea typeface="Calibri"/>
              <a:cs typeface="Calibri"/>
            </a:endParaRPr>
          </a:p>
          <a:p>
            <a:pPr marL="678422" lvl="1" indent="-278372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400">
                <a:latin typeface="Calibri"/>
                <a:ea typeface="Calibri"/>
                <a:cs typeface="Calibri"/>
              </a:rPr>
              <a:t>Paul SEBAS</a:t>
            </a:r>
            <a:endParaRPr lang="fr-FR" sz="1750"/>
          </a:p>
          <a:p>
            <a:pPr marL="678422" lvl="1" indent="-278372" algn="l">
              <a:lnSpc>
                <a:spcPts val="2849"/>
              </a:lnSpc>
              <a:buFont typeface="Arial"/>
              <a:buChar char="•"/>
              <a:defRPr/>
            </a:pP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488024" name="Text 0"/>
          <p:cNvSpPr/>
          <p:nvPr/>
        </p:nvSpPr>
        <p:spPr bwMode="auto">
          <a:xfrm>
            <a:off x="773787" y="641271"/>
            <a:ext cx="7212925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  <a:defRPr/>
            </a:pPr>
            <a:r>
              <a:rPr lang="en-US" sz="43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Contexte et Objectif du Projet</a:t>
            </a:r>
            <a:endParaRPr lang="en-US" sz="4350"/>
          </a:p>
        </p:txBody>
      </p:sp>
      <p:sp>
        <p:nvSpPr>
          <p:cNvPr id="1943868993" name="Shape 1"/>
          <p:cNvSpPr/>
          <p:nvPr/>
        </p:nvSpPr>
        <p:spPr bwMode="auto">
          <a:xfrm>
            <a:off x="773787" y="1763078"/>
            <a:ext cx="6433661" cy="2509004"/>
          </a:xfrm>
          <a:prstGeom prst="roundRect">
            <a:avLst>
              <a:gd name="adj" fmla="val 370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713844826" name="Shape 2"/>
          <p:cNvSpPr/>
          <p:nvPr/>
        </p:nvSpPr>
        <p:spPr bwMode="auto">
          <a:xfrm>
            <a:off x="1002387" y="1991678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E5E5E0"/>
          </a:solidFill>
          <a:ln/>
        </p:spPr>
      </p:sp>
      <p:pic>
        <p:nvPicPr>
          <p:cNvPr id="232718337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184791" y="2173962"/>
            <a:ext cx="298371" cy="298371"/>
          </a:xfrm>
          <a:prstGeom prst="rect">
            <a:avLst/>
          </a:prstGeom>
        </p:spPr>
      </p:pic>
      <p:sp>
        <p:nvSpPr>
          <p:cNvPr id="840727464" name="Text 3"/>
          <p:cNvSpPr/>
          <p:nvPr/>
        </p:nvSpPr>
        <p:spPr bwMode="auto">
          <a:xfrm>
            <a:off x="1002387" y="2870359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15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Plateforme Web</a:t>
            </a:r>
            <a:endParaRPr lang="en-US" sz="2150"/>
          </a:p>
        </p:txBody>
      </p:sp>
      <p:sp>
        <p:nvSpPr>
          <p:cNvPr id="287160417" name="Text 4"/>
          <p:cNvSpPr/>
          <p:nvPr/>
        </p:nvSpPr>
        <p:spPr bwMode="auto">
          <a:xfrm>
            <a:off x="1002387" y="3345061"/>
            <a:ext cx="5976461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Gestion centralisée de votre bibliothèque personnelle avec interface intuitive et moderne</a:t>
            </a:r>
            <a:endParaRPr lang="en-US" sz="1700"/>
          </a:p>
        </p:txBody>
      </p:sp>
      <p:sp>
        <p:nvSpPr>
          <p:cNvPr id="940099596" name="Shape 5"/>
          <p:cNvSpPr/>
          <p:nvPr/>
        </p:nvSpPr>
        <p:spPr bwMode="auto">
          <a:xfrm>
            <a:off x="7422952" y="1763078"/>
            <a:ext cx="6433661" cy="2509004"/>
          </a:xfrm>
          <a:prstGeom prst="roundRect">
            <a:avLst>
              <a:gd name="adj" fmla="val 370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752631960" name="Shape 6"/>
          <p:cNvSpPr/>
          <p:nvPr/>
        </p:nvSpPr>
        <p:spPr bwMode="auto">
          <a:xfrm>
            <a:off x="7651552" y="1991678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E5E5E0"/>
          </a:solidFill>
          <a:ln/>
        </p:spPr>
      </p:sp>
      <p:pic>
        <p:nvPicPr>
          <p:cNvPr id="278490870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7833955" y="2173962"/>
            <a:ext cx="298371" cy="298371"/>
          </a:xfrm>
          <a:prstGeom prst="rect">
            <a:avLst/>
          </a:prstGeom>
        </p:spPr>
      </p:pic>
      <p:sp>
        <p:nvSpPr>
          <p:cNvPr id="109886980" name="Text 7"/>
          <p:cNvSpPr/>
          <p:nvPr/>
        </p:nvSpPr>
        <p:spPr bwMode="auto">
          <a:xfrm>
            <a:off x="7651552" y="2870359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15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Recherche API</a:t>
            </a:r>
            <a:endParaRPr lang="en-US" sz="2150"/>
          </a:p>
        </p:txBody>
      </p:sp>
      <p:sp>
        <p:nvSpPr>
          <p:cNvPr id="2056369294" name="Text 8"/>
          <p:cNvSpPr/>
          <p:nvPr/>
        </p:nvSpPr>
        <p:spPr bwMode="auto">
          <a:xfrm>
            <a:off x="7651552" y="3345061"/>
            <a:ext cx="5976461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Intégration de </a:t>
            </a:r>
            <a:r>
              <a:rPr lang="en-US" sz="1700" b="1">
                <a:solidFill>
                  <a:srgbClr val="272525"/>
                </a:solidFill>
                <a:latin typeface="Lato"/>
                <a:ea typeface="Lato"/>
                <a:cs typeface="Lato"/>
              </a:rPr>
              <a:t>Open Library API</a:t>
            </a: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 pour récupérer automatiquement les informations des livres</a:t>
            </a:r>
            <a:endParaRPr lang="en-US" sz="1700"/>
          </a:p>
        </p:txBody>
      </p:sp>
      <p:sp>
        <p:nvSpPr>
          <p:cNvPr id="1015768082" name="Shape 9"/>
          <p:cNvSpPr/>
          <p:nvPr/>
        </p:nvSpPr>
        <p:spPr bwMode="auto">
          <a:xfrm>
            <a:off x="773787" y="4487585"/>
            <a:ext cx="6433661" cy="2509004"/>
          </a:xfrm>
          <a:prstGeom prst="roundRect">
            <a:avLst>
              <a:gd name="adj" fmla="val 370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307090761" name="Shape 10"/>
          <p:cNvSpPr/>
          <p:nvPr/>
        </p:nvSpPr>
        <p:spPr bwMode="auto">
          <a:xfrm>
            <a:off x="1002387" y="4716185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E5E5E0"/>
          </a:solidFill>
          <a:ln/>
        </p:spPr>
      </p:sp>
      <p:pic>
        <p:nvPicPr>
          <p:cNvPr id="1631483248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1184791" y="4898469"/>
            <a:ext cx="298371" cy="298371"/>
          </a:xfrm>
          <a:prstGeom prst="rect">
            <a:avLst/>
          </a:prstGeom>
        </p:spPr>
      </p:pic>
      <p:sp>
        <p:nvSpPr>
          <p:cNvPr id="561206905" name="Text 11"/>
          <p:cNvSpPr/>
          <p:nvPr/>
        </p:nvSpPr>
        <p:spPr bwMode="auto">
          <a:xfrm>
            <a:off x="1002387" y="5594866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15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Statuts de Lecture</a:t>
            </a:r>
            <a:endParaRPr lang="en-US" sz="2150"/>
          </a:p>
        </p:txBody>
      </p:sp>
      <p:sp>
        <p:nvSpPr>
          <p:cNvPr id="1554174075" name="Text 12"/>
          <p:cNvSpPr/>
          <p:nvPr/>
        </p:nvSpPr>
        <p:spPr bwMode="auto">
          <a:xfrm>
            <a:off x="1002387" y="6069568"/>
            <a:ext cx="5976461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Organisez vos livres : </a:t>
            </a:r>
            <a:r>
              <a:rPr lang="en-US" sz="1700" i="1">
                <a:solidFill>
                  <a:srgbClr val="272525"/>
                </a:solidFill>
                <a:latin typeface="Lato"/>
                <a:ea typeface="Lato"/>
                <a:cs typeface="Lato"/>
              </a:rPr>
              <a:t>à lire</a:t>
            </a: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700" i="1">
                <a:solidFill>
                  <a:srgbClr val="272525"/>
                </a:solidFill>
                <a:latin typeface="Lato"/>
                <a:ea typeface="Lato"/>
                <a:cs typeface="Lato"/>
              </a:rPr>
              <a:t>en cours</a:t>
            </a: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700" i="1">
                <a:solidFill>
                  <a:srgbClr val="272525"/>
                </a:solidFill>
                <a:latin typeface="Lato"/>
                <a:ea typeface="Lato"/>
                <a:cs typeface="Lato"/>
              </a:rPr>
              <a:t>lu</a:t>
            </a: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 avec progression personnalisable</a:t>
            </a:r>
            <a:endParaRPr lang="en-US" sz="1700"/>
          </a:p>
        </p:txBody>
      </p:sp>
      <p:sp>
        <p:nvSpPr>
          <p:cNvPr id="13232090" name="Shape 13"/>
          <p:cNvSpPr/>
          <p:nvPr/>
        </p:nvSpPr>
        <p:spPr bwMode="auto">
          <a:xfrm>
            <a:off x="7422952" y="4487585"/>
            <a:ext cx="6433661" cy="2509004"/>
          </a:xfrm>
          <a:prstGeom prst="roundRect">
            <a:avLst>
              <a:gd name="adj" fmla="val 370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386009858" name="Shape 14"/>
          <p:cNvSpPr/>
          <p:nvPr/>
        </p:nvSpPr>
        <p:spPr bwMode="auto">
          <a:xfrm>
            <a:off x="7651552" y="4716185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E5E5E0"/>
          </a:solidFill>
          <a:ln/>
        </p:spPr>
      </p:sp>
      <p:pic>
        <p:nvPicPr>
          <p:cNvPr id="141819745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7833955" y="4898469"/>
            <a:ext cx="298371" cy="298371"/>
          </a:xfrm>
          <a:prstGeom prst="rect">
            <a:avLst/>
          </a:prstGeom>
        </p:spPr>
      </p:pic>
      <p:sp>
        <p:nvSpPr>
          <p:cNvPr id="2008845722" name="Text 15"/>
          <p:cNvSpPr/>
          <p:nvPr/>
        </p:nvSpPr>
        <p:spPr bwMode="auto">
          <a:xfrm>
            <a:off x="7651552" y="5594866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15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Evaluations</a:t>
            </a:r>
            <a:endParaRPr lang="en-US" sz="2150"/>
          </a:p>
        </p:txBody>
      </p:sp>
      <p:sp>
        <p:nvSpPr>
          <p:cNvPr id="1463704569" name="Text 16"/>
          <p:cNvSpPr/>
          <p:nvPr/>
        </p:nvSpPr>
        <p:spPr bwMode="auto">
          <a:xfrm>
            <a:off x="7651552" y="6069568"/>
            <a:ext cx="5976461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Notez et commentez vos lectures pour garder une trace de vos impressions</a:t>
            </a:r>
            <a:endParaRPr lang="en-US" sz="1700"/>
          </a:p>
        </p:txBody>
      </p:sp>
      <p:sp>
        <p:nvSpPr>
          <p:cNvPr id="209296983" name="Text 17"/>
          <p:cNvSpPr/>
          <p:nvPr/>
        </p:nvSpPr>
        <p:spPr bwMode="auto">
          <a:xfrm>
            <a:off x="773787" y="7239000"/>
            <a:ext cx="13082826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Inspiré de </a:t>
            </a:r>
            <a:r>
              <a:rPr lang="en-US" sz="1700" b="1">
                <a:solidFill>
                  <a:srgbClr val="272525"/>
                </a:solidFill>
                <a:latin typeface="Lato"/>
                <a:ea typeface="Lato"/>
                <a:cs typeface="Lato"/>
              </a:rPr>
              <a:t>Babelio</a:t>
            </a: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 et </a:t>
            </a:r>
            <a:r>
              <a:rPr lang="en-US" sz="1700" b="1">
                <a:solidFill>
                  <a:srgbClr val="272525"/>
                </a:solidFill>
                <a:latin typeface="Lato"/>
                <a:ea typeface="Lato"/>
                <a:cs typeface="Lato"/>
              </a:rPr>
              <a:t>Goodreads</a:t>
            </a:r>
            <a:r>
              <a:rPr lang="en-US" sz="1700">
                <a:solidFill>
                  <a:srgbClr val="272525"/>
                </a:solidFill>
                <a:latin typeface="Lato"/>
                <a:ea typeface="Lato"/>
                <a:cs typeface="Lato"/>
              </a:rPr>
              <a:t> avec une approche plus simple et moderne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653501" name="Text 0"/>
          <p:cNvSpPr/>
          <p:nvPr/>
        </p:nvSpPr>
        <p:spPr bwMode="auto">
          <a:xfrm>
            <a:off x="793790" y="1366361"/>
            <a:ext cx="87535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Public Cible et Problèmes Adressés</a:t>
            </a:r>
            <a:endParaRPr lang="en-US" sz="4450"/>
          </a:p>
        </p:txBody>
      </p:sp>
      <p:sp>
        <p:nvSpPr>
          <p:cNvPr id="2137577099" name="Text 1"/>
          <p:cNvSpPr/>
          <p:nvPr/>
        </p:nvSpPr>
        <p:spPr bwMode="auto">
          <a:xfrm>
            <a:off x="793790" y="26421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Cible Principale</a:t>
            </a:r>
            <a:endParaRPr lang="en-US" sz="2650"/>
          </a:p>
        </p:txBody>
      </p:sp>
      <p:sp>
        <p:nvSpPr>
          <p:cNvPr id="81219368" name="Text 2"/>
          <p:cNvSpPr/>
          <p:nvPr/>
        </p:nvSpPr>
        <p:spPr bwMode="auto">
          <a:xfrm>
            <a:off x="793790" y="3294221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Lecteurs âgés de 18 à 45 ans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Passionnés ou lecteurs occasionnels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Utilisateurs à la recherche d'organisation</a:t>
            </a:r>
            <a:endParaRPr lang="en-US" sz="1750"/>
          </a:p>
        </p:txBody>
      </p:sp>
      <p:sp>
        <p:nvSpPr>
          <p:cNvPr id="1347108583" name="Text 3"/>
          <p:cNvSpPr/>
          <p:nvPr/>
        </p:nvSpPr>
        <p:spPr bwMode="auto">
          <a:xfrm>
            <a:off x="7599521" y="26421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Problèmes Résolus</a:t>
            </a:r>
            <a:endParaRPr lang="en-US" sz="2650"/>
          </a:p>
        </p:txBody>
      </p:sp>
      <p:sp>
        <p:nvSpPr>
          <p:cNvPr id="773331697" name="Text 4"/>
          <p:cNvSpPr/>
          <p:nvPr/>
        </p:nvSpPr>
        <p:spPr bwMode="auto">
          <a:xfrm>
            <a:off x="7599521" y="3294221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Suivre l'historique de ses lectures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Centraliser les informations sur les livres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Organiser une bibliothèque personnelle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Partager ses découvertes littéraires</a:t>
            </a:r>
            <a:endParaRPr lang="en-US" sz="1750"/>
          </a:p>
        </p:txBody>
      </p:sp>
      <p:sp>
        <p:nvSpPr>
          <p:cNvPr id="796779902" name="Shape 5"/>
          <p:cNvSpPr/>
          <p:nvPr/>
        </p:nvSpPr>
        <p:spPr bwMode="auto">
          <a:xfrm>
            <a:off x="793790" y="5318165"/>
            <a:ext cx="13042821" cy="1544955"/>
          </a:xfrm>
          <a:prstGeom prst="roundRect">
            <a:avLst>
              <a:gd name="adj" fmla="val 6166"/>
            </a:avLst>
          </a:prstGeom>
          <a:solidFill>
            <a:srgbClr val="DCDCD5"/>
          </a:solidFill>
          <a:ln/>
        </p:spPr>
      </p:sp>
      <p:pic>
        <p:nvPicPr>
          <p:cNvPr id="19825898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0604" y="5612606"/>
            <a:ext cx="354330" cy="283488"/>
          </a:xfrm>
          <a:prstGeom prst="rect">
            <a:avLst/>
          </a:prstGeom>
        </p:spPr>
      </p:pic>
      <p:sp>
        <p:nvSpPr>
          <p:cNvPr id="596216912" name="Text 6"/>
          <p:cNvSpPr/>
          <p:nvPr/>
        </p:nvSpPr>
        <p:spPr bwMode="auto">
          <a:xfrm>
            <a:off x="1601748" y="56016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000000"/>
                </a:solidFill>
                <a:latin typeface="Gelasio"/>
                <a:ea typeface="Gelasio"/>
                <a:cs typeface="Gelasio"/>
              </a:rPr>
              <a:t>Evolutions Futures</a:t>
            </a:r>
            <a:endParaRPr lang="en-US" sz="2200"/>
          </a:p>
        </p:txBody>
      </p:sp>
      <p:sp>
        <p:nvSpPr>
          <p:cNvPr id="2123372008" name="Text 7"/>
          <p:cNvSpPr/>
          <p:nvPr/>
        </p:nvSpPr>
        <p:spPr bwMode="auto">
          <a:xfrm>
            <a:off x="1601748" y="6182796"/>
            <a:ext cx="8757458" cy="36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000000"/>
                </a:solidFill>
                <a:latin typeface="Lato"/>
                <a:ea typeface="Lato"/>
                <a:cs typeface="Lato"/>
              </a:rPr>
              <a:t>Clubs de lecture • Recommandations communautaires • Recherche</a:t>
            </a:r>
            <a:r>
              <a:rPr lang="fr-FR" sz="1750">
                <a:solidFill>
                  <a:srgbClr val="000000"/>
                </a:solidFill>
                <a:latin typeface="Lato"/>
                <a:ea typeface="Lato"/>
                <a:cs typeface="Lato"/>
              </a:rPr>
              <a:t>s</a:t>
            </a:r>
            <a:r>
              <a:rPr lang="en-US" sz="1750">
                <a:solidFill>
                  <a:srgbClr val="000000"/>
                </a:solidFill>
                <a:latin typeface="Lato"/>
                <a:ea typeface="Lato"/>
                <a:cs typeface="Lato"/>
              </a:rPr>
              <a:t> filtrée</a:t>
            </a:r>
            <a:r>
              <a:rPr lang="fr-FR" sz="1750">
                <a:solidFill>
                  <a:srgbClr val="000000"/>
                </a:solidFill>
                <a:latin typeface="Lato"/>
                <a:ea typeface="Lato"/>
                <a:cs typeface="Lato"/>
              </a:rPr>
              <a:t>s</a:t>
            </a:r>
            <a:r>
              <a:rPr lang="en-US" sz="1750">
                <a:solidFill>
                  <a:srgbClr val="000000"/>
                </a:solidFill>
                <a:latin typeface="Lato"/>
                <a:ea typeface="Lato"/>
                <a:cs typeface="Lato"/>
              </a:rPr>
              <a:t> • Scan ISBN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702270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2037521288" name="Text 0"/>
          <p:cNvSpPr/>
          <p:nvPr/>
        </p:nvSpPr>
        <p:spPr bwMode="auto">
          <a:xfrm>
            <a:off x="612338" y="900351"/>
            <a:ext cx="6427827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  <a:defRPr/>
            </a:pPr>
            <a:r>
              <a:rPr lang="en-US" sz="340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Architecture Technique du Projet</a:t>
            </a:r>
            <a:endParaRPr lang="en-US" sz="3400"/>
          </a:p>
        </p:txBody>
      </p:sp>
      <p:pic>
        <p:nvPicPr>
          <p:cNvPr id="151681340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2338" y="1649492"/>
            <a:ext cx="874871" cy="1049774"/>
          </a:xfrm>
          <a:prstGeom prst="rect">
            <a:avLst/>
          </a:prstGeom>
        </p:spPr>
      </p:pic>
      <p:sp>
        <p:nvSpPr>
          <p:cNvPr id="359069370" name="Text 1"/>
          <p:cNvSpPr/>
          <p:nvPr/>
        </p:nvSpPr>
        <p:spPr bwMode="auto">
          <a:xfrm>
            <a:off x="1622108" y="1824395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Frontend</a:t>
            </a:r>
            <a:endParaRPr lang="en-US" sz="1700"/>
          </a:p>
        </p:txBody>
      </p:sp>
      <p:sp>
        <p:nvSpPr>
          <p:cNvPr id="357518409" name="Text 2"/>
          <p:cNvSpPr/>
          <p:nvPr/>
        </p:nvSpPr>
        <p:spPr bwMode="auto">
          <a:xfrm>
            <a:off x="1622107" y="2174378"/>
            <a:ext cx="690955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350">
                <a:solidFill>
                  <a:srgbClr val="272525"/>
                </a:solidFill>
                <a:latin typeface="Lato"/>
                <a:ea typeface="Lato"/>
                <a:cs typeface="Lato"/>
              </a:rPr>
              <a:t>Next.js • TypeScript • Tailwind CSS • shadcn/ui</a:t>
            </a:r>
            <a:endParaRPr lang="en-US" sz="1350"/>
          </a:p>
        </p:txBody>
      </p:sp>
      <p:pic>
        <p:nvPicPr>
          <p:cNvPr id="122958886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2338" y="2699266"/>
            <a:ext cx="874871" cy="1049774"/>
          </a:xfrm>
          <a:prstGeom prst="rect">
            <a:avLst/>
          </a:prstGeom>
        </p:spPr>
      </p:pic>
      <p:sp>
        <p:nvSpPr>
          <p:cNvPr id="2113571694" name="Text 3"/>
          <p:cNvSpPr/>
          <p:nvPr/>
        </p:nvSpPr>
        <p:spPr bwMode="auto">
          <a:xfrm>
            <a:off x="1622108" y="2874169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Backend</a:t>
            </a:r>
            <a:endParaRPr lang="en-US" sz="1700"/>
          </a:p>
        </p:txBody>
      </p:sp>
      <p:sp>
        <p:nvSpPr>
          <p:cNvPr id="509953978" name="Text 4"/>
          <p:cNvSpPr/>
          <p:nvPr/>
        </p:nvSpPr>
        <p:spPr bwMode="auto">
          <a:xfrm>
            <a:off x="1622108" y="3228499"/>
            <a:ext cx="690955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350">
                <a:solidFill>
                  <a:srgbClr val="272525"/>
                </a:solidFill>
                <a:latin typeface="Lato"/>
                <a:ea typeface="Lato"/>
                <a:cs typeface="Lato"/>
              </a:rPr>
              <a:t>Node.js • Express • Prisma ORM • Zod</a:t>
            </a:r>
            <a:endParaRPr lang="en-US" sz="1350"/>
          </a:p>
        </p:txBody>
      </p:sp>
      <p:pic>
        <p:nvPicPr>
          <p:cNvPr id="717347881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12338" y="3749040"/>
            <a:ext cx="874871" cy="1049774"/>
          </a:xfrm>
          <a:prstGeom prst="rect">
            <a:avLst/>
          </a:prstGeom>
        </p:spPr>
      </p:pic>
      <p:sp>
        <p:nvSpPr>
          <p:cNvPr id="1008910070" name="Text 5"/>
          <p:cNvSpPr/>
          <p:nvPr/>
        </p:nvSpPr>
        <p:spPr bwMode="auto">
          <a:xfrm>
            <a:off x="1622108" y="3923943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Base de Données</a:t>
            </a:r>
            <a:endParaRPr lang="en-US" sz="1700"/>
          </a:p>
        </p:txBody>
      </p:sp>
      <p:sp>
        <p:nvSpPr>
          <p:cNvPr id="1943576297" name="Text 6"/>
          <p:cNvSpPr/>
          <p:nvPr/>
        </p:nvSpPr>
        <p:spPr bwMode="auto">
          <a:xfrm>
            <a:off x="1622108" y="4278273"/>
            <a:ext cx="690955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350">
                <a:solidFill>
                  <a:srgbClr val="272525"/>
                </a:solidFill>
                <a:latin typeface="Lato"/>
                <a:ea typeface="Lato"/>
                <a:cs typeface="Lato"/>
              </a:rPr>
              <a:t>PostgreSQL hébergé sur Neon</a:t>
            </a:r>
            <a:endParaRPr lang="en-US" sz="1350"/>
          </a:p>
        </p:txBody>
      </p:sp>
      <p:sp>
        <p:nvSpPr>
          <p:cNvPr id="2098832" name="Shape 7"/>
          <p:cNvSpPr/>
          <p:nvPr/>
        </p:nvSpPr>
        <p:spPr bwMode="auto">
          <a:xfrm>
            <a:off x="612338" y="4950619"/>
            <a:ext cx="3892153" cy="1245870"/>
          </a:xfrm>
          <a:prstGeom prst="roundRect">
            <a:avLst>
              <a:gd name="adj" fmla="val 58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332917967" name="Text 8"/>
          <p:cNvSpPr/>
          <p:nvPr/>
        </p:nvSpPr>
        <p:spPr bwMode="auto">
          <a:xfrm>
            <a:off x="810101" y="5148382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Authentification</a:t>
            </a:r>
            <a:endParaRPr lang="en-US" sz="1700"/>
          </a:p>
        </p:txBody>
      </p:sp>
      <p:sp>
        <p:nvSpPr>
          <p:cNvPr id="1148090083" name="Text 9"/>
          <p:cNvSpPr/>
          <p:nvPr/>
        </p:nvSpPr>
        <p:spPr bwMode="auto">
          <a:xfrm>
            <a:off x="810101" y="5502712"/>
            <a:ext cx="3496628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350">
                <a:solidFill>
                  <a:srgbClr val="272525"/>
                </a:solidFill>
                <a:latin typeface="Lato"/>
                <a:ea typeface="Lato"/>
                <a:cs typeface="Lato"/>
              </a:rPr>
              <a:t>JWT • argon2 pour la sécurité des mots de passe</a:t>
            </a:r>
            <a:endParaRPr lang="en-US" sz="1350"/>
          </a:p>
        </p:txBody>
      </p:sp>
      <p:sp>
        <p:nvSpPr>
          <p:cNvPr id="844298714" name="Shape 10"/>
          <p:cNvSpPr/>
          <p:nvPr/>
        </p:nvSpPr>
        <p:spPr bwMode="auto">
          <a:xfrm>
            <a:off x="4639389" y="4950619"/>
            <a:ext cx="3892272" cy="1245870"/>
          </a:xfrm>
          <a:prstGeom prst="roundRect">
            <a:avLst>
              <a:gd name="adj" fmla="val 58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991717598" name="Text 11"/>
          <p:cNvSpPr/>
          <p:nvPr/>
        </p:nvSpPr>
        <p:spPr bwMode="auto">
          <a:xfrm>
            <a:off x="4837152" y="5148382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API Externe</a:t>
            </a:r>
            <a:endParaRPr lang="en-US" sz="1700"/>
          </a:p>
        </p:txBody>
      </p:sp>
      <p:sp>
        <p:nvSpPr>
          <p:cNvPr id="344208067" name="Text 12"/>
          <p:cNvSpPr/>
          <p:nvPr/>
        </p:nvSpPr>
        <p:spPr bwMode="auto">
          <a:xfrm>
            <a:off x="4837152" y="5502712"/>
            <a:ext cx="349674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350">
                <a:solidFill>
                  <a:srgbClr val="272525"/>
                </a:solidFill>
                <a:latin typeface="Lato"/>
                <a:ea typeface="Lato"/>
                <a:cs typeface="Lato"/>
              </a:rPr>
              <a:t>Open Library API pour les données de livres</a:t>
            </a:r>
            <a:endParaRPr lang="en-US" sz="1350"/>
          </a:p>
        </p:txBody>
      </p:sp>
      <p:sp>
        <p:nvSpPr>
          <p:cNvPr id="809435214" name="Shape 13"/>
          <p:cNvSpPr/>
          <p:nvPr/>
        </p:nvSpPr>
        <p:spPr bwMode="auto">
          <a:xfrm>
            <a:off x="612338" y="6331387"/>
            <a:ext cx="7919323" cy="997863"/>
          </a:xfrm>
          <a:prstGeom prst="roundRect">
            <a:avLst>
              <a:gd name="adj" fmla="val 736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554672273" name="Text 14"/>
          <p:cNvSpPr/>
          <p:nvPr/>
        </p:nvSpPr>
        <p:spPr bwMode="auto">
          <a:xfrm>
            <a:off x="810101" y="6529149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DevOps</a:t>
            </a:r>
            <a:endParaRPr lang="en-US" sz="1700"/>
          </a:p>
        </p:txBody>
      </p:sp>
      <p:sp>
        <p:nvSpPr>
          <p:cNvPr id="584060740" name="Text 15"/>
          <p:cNvSpPr/>
          <p:nvPr/>
        </p:nvSpPr>
        <p:spPr bwMode="auto">
          <a:xfrm>
            <a:off x="810101" y="6883479"/>
            <a:ext cx="752379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350">
                <a:solidFill>
                  <a:srgbClr val="272525"/>
                </a:solidFill>
                <a:latin typeface="Lato"/>
                <a:ea typeface="Lato"/>
                <a:cs typeface="Lato"/>
              </a:rPr>
              <a:t>Docker • GitHub • Vercel (frontend) • Render (backend)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498381" name="Text 0"/>
          <p:cNvSpPr/>
          <p:nvPr/>
        </p:nvSpPr>
        <p:spPr bwMode="auto">
          <a:xfrm>
            <a:off x="2686764" y="641033"/>
            <a:ext cx="4143613" cy="41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0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Sprint 0 : Cadrage du Projet</a:t>
            </a:r>
            <a:endParaRPr lang="en-US" sz="2600"/>
          </a:p>
        </p:txBody>
      </p:sp>
      <p:sp>
        <p:nvSpPr>
          <p:cNvPr id="259913227" name="Text 1"/>
          <p:cNvSpPr/>
          <p:nvPr/>
        </p:nvSpPr>
        <p:spPr bwMode="auto">
          <a:xfrm>
            <a:off x="2686764" y="1218843"/>
            <a:ext cx="9256871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1050">
                <a:solidFill>
                  <a:srgbClr val="272525"/>
                </a:solidFill>
                <a:latin typeface="Lato"/>
                <a:ea typeface="Lato"/>
                <a:cs typeface="Lato"/>
              </a:rPr>
              <a:t>Première semaine dédiée à la préparation avant le développement</a:t>
            </a:r>
            <a:endParaRPr lang="en-US" sz="1050"/>
          </a:p>
        </p:txBody>
      </p:sp>
      <p:sp>
        <p:nvSpPr>
          <p:cNvPr id="2067694591" name="Shape 2"/>
          <p:cNvSpPr/>
          <p:nvPr/>
        </p:nvSpPr>
        <p:spPr bwMode="auto">
          <a:xfrm>
            <a:off x="2686764" y="1478756"/>
            <a:ext cx="134064" cy="804863"/>
          </a:xfrm>
          <a:prstGeom prst="roundRect">
            <a:avLst>
              <a:gd name="adj" fmla="val 4203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75184462" name="Text 3"/>
          <p:cNvSpPr/>
          <p:nvPr/>
        </p:nvSpPr>
        <p:spPr bwMode="auto">
          <a:xfrm>
            <a:off x="2900124" y="1612821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3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Vision Produit</a:t>
            </a:r>
            <a:endParaRPr lang="en-US" sz="1300"/>
          </a:p>
        </p:txBody>
      </p:sp>
      <p:sp>
        <p:nvSpPr>
          <p:cNvPr id="472701247" name="Text 4"/>
          <p:cNvSpPr/>
          <p:nvPr/>
        </p:nvSpPr>
        <p:spPr bwMode="auto">
          <a:xfrm>
            <a:off x="2900124" y="1869877"/>
            <a:ext cx="9043511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1050">
                <a:solidFill>
                  <a:srgbClr val="272525"/>
                </a:solidFill>
                <a:latin typeface="Lato"/>
                <a:ea typeface="Lato"/>
                <a:cs typeface="Lato"/>
              </a:rPr>
              <a:t>Définition claire de la direction et des objectifs du projet</a:t>
            </a:r>
            <a:endParaRPr lang="en-US" sz="1050"/>
          </a:p>
        </p:txBody>
      </p:sp>
      <p:sp>
        <p:nvSpPr>
          <p:cNvPr id="435584208" name="Shape 5"/>
          <p:cNvSpPr/>
          <p:nvPr/>
        </p:nvSpPr>
        <p:spPr bwMode="auto">
          <a:xfrm>
            <a:off x="2887980" y="2362914"/>
            <a:ext cx="134064" cy="804863"/>
          </a:xfrm>
          <a:prstGeom prst="roundRect">
            <a:avLst>
              <a:gd name="adj" fmla="val 4203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586459718" name="Text 6"/>
          <p:cNvSpPr/>
          <p:nvPr/>
        </p:nvSpPr>
        <p:spPr bwMode="auto">
          <a:xfrm>
            <a:off x="3101339" y="2496979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3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Cahier des Charges</a:t>
            </a:r>
            <a:endParaRPr lang="en-US" sz="1300"/>
          </a:p>
        </p:txBody>
      </p:sp>
      <p:sp>
        <p:nvSpPr>
          <p:cNvPr id="1401610184" name="Text 7"/>
          <p:cNvSpPr/>
          <p:nvPr/>
        </p:nvSpPr>
        <p:spPr bwMode="auto">
          <a:xfrm>
            <a:off x="3101339" y="2754035"/>
            <a:ext cx="8842296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1050">
                <a:solidFill>
                  <a:srgbClr val="272525"/>
                </a:solidFill>
                <a:latin typeface="Lato"/>
                <a:ea typeface="Lato"/>
                <a:cs typeface="Lato"/>
              </a:rPr>
              <a:t>Rédaction complète des spécifications fonctionnelles et techniques</a:t>
            </a:r>
            <a:endParaRPr lang="en-US" sz="1050"/>
          </a:p>
        </p:txBody>
      </p:sp>
      <p:sp>
        <p:nvSpPr>
          <p:cNvPr id="1087560025" name="Shape 8"/>
          <p:cNvSpPr/>
          <p:nvPr/>
        </p:nvSpPr>
        <p:spPr bwMode="auto">
          <a:xfrm>
            <a:off x="3089196" y="3247073"/>
            <a:ext cx="134064" cy="804863"/>
          </a:xfrm>
          <a:prstGeom prst="roundRect">
            <a:avLst>
              <a:gd name="adj" fmla="val 4203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80304096" name="Text 9"/>
          <p:cNvSpPr/>
          <p:nvPr/>
        </p:nvSpPr>
        <p:spPr bwMode="auto">
          <a:xfrm>
            <a:off x="3302556" y="3381137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3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MVP</a:t>
            </a:r>
            <a:endParaRPr lang="en-US" sz="1300"/>
          </a:p>
        </p:txBody>
      </p:sp>
      <p:sp>
        <p:nvSpPr>
          <p:cNvPr id="1109066410" name="Text 10"/>
          <p:cNvSpPr/>
          <p:nvPr/>
        </p:nvSpPr>
        <p:spPr bwMode="auto">
          <a:xfrm>
            <a:off x="3302556" y="3638193"/>
            <a:ext cx="8641080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1050">
                <a:solidFill>
                  <a:srgbClr val="272525"/>
                </a:solidFill>
                <a:latin typeface="Lato"/>
                <a:ea typeface="Lato"/>
                <a:cs typeface="Lato"/>
              </a:rPr>
              <a:t>Identification des fonctionnalités essentielles pour le produit minimum viable</a:t>
            </a:r>
            <a:endParaRPr lang="en-US" sz="1050"/>
          </a:p>
        </p:txBody>
      </p:sp>
      <p:sp>
        <p:nvSpPr>
          <p:cNvPr id="2066464015" name="Shape 11"/>
          <p:cNvSpPr/>
          <p:nvPr/>
        </p:nvSpPr>
        <p:spPr bwMode="auto">
          <a:xfrm>
            <a:off x="3290411" y="4131231"/>
            <a:ext cx="134064" cy="804863"/>
          </a:xfrm>
          <a:prstGeom prst="roundRect">
            <a:avLst>
              <a:gd name="adj" fmla="val 4203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606657492" name="Text 12"/>
          <p:cNvSpPr/>
          <p:nvPr/>
        </p:nvSpPr>
        <p:spPr bwMode="auto">
          <a:xfrm>
            <a:off x="3503771" y="4265295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3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User Stories</a:t>
            </a:r>
            <a:endParaRPr lang="en-US" sz="1300"/>
          </a:p>
        </p:txBody>
      </p:sp>
      <p:sp>
        <p:nvSpPr>
          <p:cNvPr id="2119609809" name="Text 13"/>
          <p:cNvSpPr/>
          <p:nvPr/>
        </p:nvSpPr>
        <p:spPr bwMode="auto">
          <a:xfrm>
            <a:off x="3503771" y="4522351"/>
            <a:ext cx="8439864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1050">
                <a:solidFill>
                  <a:srgbClr val="272525"/>
                </a:solidFill>
                <a:latin typeface="Lato"/>
                <a:ea typeface="Lato"/>
                <a:cs typeface="Lato"/>
              </a:rPr>
              <a:t>Définition de 13 user stories pour guider le développement</a:t>
            </a:r>
            <a:endParaRPr lang="en-US" sz="1050"/>
          </a:p>
        </p:txBody>
      </p:sp>
      <p:sp>
        <p:nvSpPr>
          <p:cNvPr id="873154122" name="Shape 14"/>
          <p:cNvSpPr/>
          <p:nvPr/>
        </p:nvSpPr>
        <p:spPr bwMode="auto">
          <a:xfrm>
            <a:off x="3089196" y="5015389"/>
            <a:ext cx="134064" cy="804863"/>
          </a:xfrm>
          <a:prstGeom prst="roundRect">
            <a:avLst>
              <a:gd name="adj" fmla="val 4203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188907037" name="Text 15"/>
          <p:cNvSpPr/>
          <p:nvPr/>
        </p:nvSpPr>
        <p:spPr bwMode="auto">
          <a:xfrm>
            <a:off x="3302556" y="5149453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3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Backlog</a:t>
            </a:r>
            <a:endParaRPr lang="en-US" sz="1300"/>
          </a:p>
        </p:txBody>
      </p:sp>
      <p:sp>
        <p:nvSpPr>
          <p:cNvPr id="710162042" name="Text 16"/>
          <p:cNvSpPr/>
          <p:nvPr/>
        </p:nvSpPr>
        <p:spPr bwMode="auto">
          <a:xfrm>
            <a:off x="3302556" y="5406509"/>
            <a:ext cx="8641080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1050">
                <a:solidFill>
                  <a:srgbClr val="272525"/>
                </a:solidFill>
                <a:latin typeface="Lato"/>
                <a:ea typeface="Lato"/>
                <a:cs typeface="Lato"/>
              </a:rPr>
              <a:t>Création du backlog produit avec 17 items prioritaires</a:t>
            </a:r>
            <a:endParaRPr lang="en-US" sz="1050"/>
          </a:p>
        </p:txBody>
      </p:sp>
      <p:sp>
        <p:nvSpPr>
          <p:cNvPr id="81056529" name="Shape 17"/>
          <p:cNvSpPr/>
          <p:nvPr/>
        </p:nvSpPr>
        <p:spPr bwMode="auto">
          <a:xfrm>
            <a:off x="2887980" y="5899547"/>
            <a:ext cx="134064" cy="804863"/>
          </a:xfrm>
          <a:prstGeom prst="roundRect">
            <a:avLst>
              <a:gd name="adj" fmla="val 4203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455295747" name="Text 18"/>
          <p:cNvSpPr/>
          <p:nvPr/>
        </p:nvSpPr>
        <p:spPr bwMode="auto">
          <a:xfrm>
            <a:off x="3101339" y="6033611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3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Architecture</a:t>
            </a:r>
            <a:endParaRPr lang="en-US" sz="1300"/>
          </a:p>
        </p:txBody>
      </p:sp>
      <p:sp>
        <p:nvSpPr>
          <p:cNvPr id="1937190286" name="Text 19"/>
          <p:cNvSpPr/>
          <p:nvPr/>
        </p:nvSpPr>
        <p:spPr bwMode="auto">
          <a:xfrm>
            <a:off x="3101339" y="6290667"/>
            <a:ext cx="8842296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1050">
                <a:solidFill>
                  <a:srgbClr val="272525"/>
                </a:solidFill>
                <a:latin typeface="Lato"/>
                <a:ea typeface="Lato"/>
                <a:cs typeface="Lato"/>
              </a:rPr>
              <a:t>Conception de l'architecture technique et définition des routes</a:t>
            </a:r>
            <a:endParaRPr lang="en-US" sz="1050"/>
          </a:p>
        </p:txBody>
      </p:sp>
      <p:sp>
        <p:nvSpPr>
          <p:cNvPr id="2097070632" name="Shape 20"/>
          <p:cNvSpPr/>
          <p:nvPr/>
        </p:nvSpPr>
        <p:spPr bwMode="auto">
          <a:xfrm>
            <a:off x="2686764" y="6783705"/>
            <a:ext cx="134064" cy="804863"/>
          </a:xfrm>
          <a:prstGeom prst="roundRect">
            <a:avLst>
              <a:gd name="adj" fmla="val 4203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907740193" name="Text 21"/>
          <p:cNvSpPr/>
          <p:nvPr/>
        </p:nvSpPr>
        <p:spPr bwMode="auto">
          <a:xfrm>
            <a:off x="2900124" y="6917769"/>
            <a:ext cx="167687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3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Organisation</a:t>
            </a:r>
            <a:endParaRPr lang="en-US" sz="1300"/>
          </a:p>
        </p:txBody>
      </p:sp>
      <p:sp>
        <p:nvSpPr>
          <p:cNvPr id="973167118" name="Text 22"/>
          <p:cNvSpPr/>
          <p:nvPr/>
        </p:nvSpPr>
        <p:spPr bwMode="auto">
          <a:xfrm>
            <a:off x="2900124" y="7174825"/>
            <a:ext cx="9043511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1050">
                <a:solidFill>
                  <a:srgbClr val="272525"/>
                </a:solidFill>
                <a:latin typeface="Lato"/>
                <a:ea typeface="Lato"/>
                <a:cs typeface="Lato"/>
              </a:rPr>
              <a:t>Méthodologie Scrum avec rôles définis et cérémonies établies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315186" name="Text 0"/>
          <p:cNvSpPr/>
          <p:nvPr/>
        </p:nvSpPr>
        <p:spPr bwMode="auto">
          <a:xfrm>
            <a:off x="793790" y="1727597"/>
            <a:ext cx="90945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Répartition du Travail dans l'Equipe</a:t>
            </a:r>
            <a:endParaRPr lang="en-US" sz="4450"/>
          </a:p>
        </p:txBody>
      </p:sp>
      <p:pic>
        <p:nvPicPr>
          <p:cNvPr id="1939067924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93790" y="2890004"/>
            <a:ext cx="566976" cy="566976"/>
          </a:xfrm>
          <a:prstGeom prst="rect">
            <a:avLst/>
          </a:prstGeom>
        </p:spPr>
      </p:pic>
      <p:sp>
        <p:nvSpPr>
          <p:cNvPr id="644979418" name="Text 1"/>
          <p:cNvSpPr/>
          <p:nvPr/>
        </p:nvSpPr>
        <p:spPr bwMode="auto">
          <a:xfrm>
            <a:off x="1644252" y="2890003"/>
            <a:ext cx="2764414" cy="359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Rémi</a:t>
            </a: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 </a:t>
            </a: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- </a:t>
            </a: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Product Owner</a:t>
            </a:r>
            <a:endParaRPr lang="en-US" sz="2200"/>
          </a:p>
        </p:txBody>
      </p:sp>
      <p:sp>
        <p:nvSpPr>
          <p:cNvPr id="1368618070" name="Text 2"/>
          <p:cNvSpPr/>
          <p:nvPr/>
        </p:nvSpPr>
        <p:spPr bwMode="auto">
          <a:xfrm>
            <a:off x="1644253" y="3380423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Diagramme des use cases • Exploration et intégration de l'API Open Library • Préparation de la structure du backend</a:t>
            </a:r>
            <a:endParaRPr lang="en-US" sz="1750"/>
          </a:p>
        </p:txBody>
      </p:sp>
      <p:pic>
        <p:nvPicPr>
          <p:cNvPr id="1050631764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7456884" y="2890004"/>
            <a:ext cx="566976" cy="566976"/>
          </a:xfrm>
          <a:prstGeom prst="rect">
            <a:avLst/>
          </a:prstGeom>
        </p:spPr>
      </p:pic>
      <p:sp>
        <p:nvSpPr>
          <p:cNvPr id="708324391" name="Text 3"/>
          <p:cNvSpPr/>
          <p:nvPr/>
        </p:nvSpPr>
        <p:spPr bwMode="auto">
          <a:xfrm>
            <a:off x="8307347" y="2890003"/>
            <a:ext cx="2546952" cy="35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Pa</a:t>
            </a: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ul</a:t>
            </a: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 </a:t>
            </a: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-</a:t>
            </a: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 Scrum Master</a:t>
            </a:r>
            <a:endParaRPr lang="en-US" sz="2200"/>
          </a:p>
        </p:txBody>
      </p:sp>
      <p:sp>
        <p:nvSpPr>
          <p:cNvPr id="2146596038" name="Text 4"/>
          <p:cNvSpPr/>
          <p:nvPr/>
        </p:nvSpPr>
        <p:spPr bwMode="auto">
          <a:xfrm>
            <a:off x="8307348" y="3380423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Premières versions des éléments du cahier des charges • Préparation de la documentation avant validation collective</a:t>
            </a:r>
            <a:endParaRPr lang="en-US" sz="1750"/>
          </a:p>
        </p:txBody>
      </p:sp>
      <p:pic>
        <p:nvPicPr>
          <p:cNvPr id="1675615822" name="Image 2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840501093" name="Text 5"/>
          <p:cNvSpPr/>
          <p:nvPr/>
        </p:nvSpPr>
        <p:spPr bwMode="auto">
          <a:xfrm>
            <a:off x="1644252" y="4922757"/>
            <a:ext cx="3479694" cy="3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Christopher</a:t>
            </a: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 </a:t>
            </a: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-</a:t>
            </a: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 Lead Backend</a:t>
            </a:r>
            <a:endParaRPr lang="en-US" sz="2200"/>
          </a:p>
        </p:txBody>
      </p:sp>
      <p:sp>
        <p:nvSpPr>
          <p:cNvPr id="1455599759" name="Text 6"/>
          <p:cNvSpPr/>
          <p:nvPr/>
        </p:nvSpPr>
        <p:spPr bwMode="auto">
          <a:xfrm>
            <a:off x="1644253" y="5413177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Diagrammes d'architecture et de séquence • Wireframes en collaboration avec </a:t>
            </a:r>
            <a:r>
              <a:rPr lang="fr-FR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Ophélie</a:t>
            </a: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 • Préparation de la structure frontend avec Next.js</a:t>
            </a:r>
            <a:endParaRPr lang="en-US" sz="1750"/>
          </a:p>
        </p:txBody>
      </p:sp>
      <p:pic>
        <p:nvPicPr>
          <p:cNvPr id="859122476" name="Image 3" descr="preencoded.png"/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976501270" name="Text 7"/>
          <p:cNvSpPr/>
          <p:nvPr/>
        </p:nvSpPr>
        <p:spPr bwMode="auto">
          <a:xfrm>
            <a:off x="8307347" y="4922757"/>
            <a:ext cx="3029490" cy="35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Ophélie</a:t>
            </a: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 </a:t>
            </a: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-</a:t>
            </a: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 Lead Frontend</a:t>
            </a:r>
            <a:endParaRPr lang="en-US" sz="2200"/>
          </a:p>
        </p:txBody>
      </p:sp>
      <p:sp>
        <p:nvSpPr>
          <p:cNvPr id="1738703372" name="Text 8"/>
          <p:cNvSpPr/>
          <p:nvPr/>
        </p:nvSpPr>
        <p:spPr bwMode="auto">
          <a:xfrm>
            <a:off x="8307348" y="541317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Conception visuelle du produit • Création de maquettes sur Figma • Définition de l'identité visuelle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941967" name="Text 0"/>
          <p:cNvSpPr/>
          <p:nvPr/>
        </p:nvSpPr>
        <p:spPr bwMode="auto">
          <a:xfrm>
            <a:off x="793789" y="174583"/>
            <a:ext cx="5528849" cy="727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49"/>
              </a:lnSpc>
              <a:buNone/>
              <a:defRPr/>
            </a:pPr>
            <a:r>
              <a:rPr lang="fr-FR" sz="44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Les modèles MERISE</a:t>
            </a:r>
            <a:endParaRPr lang="en-US" sz="4450"/>
          </a:p>
        </p:txBody>
      </p:sp>
      <p:sp>
        <p:nvSpPr>
          <p:cNvPr id="1710631395" name="Shape 1"/>
          <p:cNvSpPr/>
          <p:nvPr/>
        </p:nvSpPr>
        <p:spPr bwMode="auto">
          <a:xfrm flipH="0" flipV="0">
            <a:off x="748069" y="1300043"/>
            <a:ext cx="6407942" cy="6195330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281562767" name="Text 3"/>
          <p:cNvSpPr/>
          <p:nvPr/>
        </p:nvSpPr>
        <p:spPr bwMode="auto">
          <a:xfrm>
            <a:off x="1096803" y="1632545"/>
            <a:ext cx="637006" cy="355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49"/>
              </a:lnSpc>
              <a:buNone/>
              <a:defRPr/>
            </a:pPr>
            <a:r>
              <a:rPr lang="fr-FR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MCD</a:t>
            </a:r>
            <a:endParaRPr lang="en-US" sz="2200"/>
          </a:p>
        </p:txBody>
      </p:sp>
      <p:sp>
        <p:nvSpPr>
          <p:cNvPr id="1433708976" name="Shape 5"/>
          <p:cNvSpPr/>
          <p:nvPr/>
        </p:nvSpPr>
        <p:spPr bwMode="auto">
          <a:xfrm flipH="0" flipV="0">
            <a:off x="7459026" y="1262603"/>
            <a:ext cx="6408061" cy="6232770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305278415" name="Shape 6"/>
          <p:cNvSpPr/>
          <p:nvPr/>
        </p:nvSpPr>
        <p:spPr bwMode="auto">
          <a:xfrm flipH="0" flipV="0">
            <a:off x="7398066" y="1596185"/>
            <a:ext cx="121919" cy="544519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464220403" name="Text 7"/>
          <p:cNvSpPr/>
          <p:nvPr/>
        </p:nvSpPr>
        <p:spPr bwMode="auto">
          <a:xfrm flipH="0" flipV="0">
            <a:off x="7777281" y="1596185"/>
            <a:ext cx="822834" cy="39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49"/>
              </a:lnSpc>
              <a:buNone/>
              <a:defRPr/>
            </a:pPr>
            <a:r>
              <a:rPr lang="fr-FR" sz="220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MLD</a:t>
            </a:r>
            <a:r>
              <a:rPr lang="fr-FR" sz="2200"/>
              <a:t> </a:t>
            </a:r>
            <a:endParaRPr lang="en-US" sz="2200"/>
          </a:p>
        </p:txBody>
      </p:sp>
      <p:pic>
        <p:nvPicPr>
          <p:cNvPr id="150765517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851820" y="2147480"/>
            <a:ext cx="6184780" cy="3149131"/>
          </a:xfrm>
          <a:prstGeom prst="rect">
            <a:avLst/>
          </a:prstGeom>
        </p:spPr>
      </p:pic>
      <p:pic>
        <p:nvPicPr>
          <p:cNvPr id="58073921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8008998" y="2147480"/>
            <a:ext cx="5308119" cy="4665683"/>
          </a:xfrm>
          <a:prstGeom prst="rect">
            <a:avLst/>
          </a:prstGeom>
        </p:spPr>
      </p:pic>
      <p:sp>
        <p:nvSpPr>
          <p:cNvPr id="1823275291" name="Shape 6"/>
          <p:cNvSpPr/>
          <p:nvPr/>
        </p:nvSpPr>
        <p:spPr bwMode="auto">
          <a:xfrm flipH="0" flipV="0">
            <a:off x="671869" y="1675112"/>
            <a:ext cx="121919" cy="544519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555596" name="Text 0"/>
          <p:cNvSpPr/>
          <p:nvPr/>
        </p:nvSpPr>
        <p:spPr bwMode="auto">
          <a:xfrm>
            <a:off x="793789" y="174583"/>
            <a:ext cx="3957582" cy="738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49"/>
              </a:lnSpc>
              <a:buNone/>
              <a:defRPr/>
            </a:pPr>
            <a:r>
              <a:rPr lang="fr-FR" sz="44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Les Wireframes</a:t>
            </a:r>
            <a:endParaRPr lang="en-US" sz="4450"/>
          </a:p>
        </p:txBody>
      </p:sp>
      <p:pic>
        <p:nvPicPr>
          <p:cNvPr id="7804963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7825" y="1509667"/>
            <a:ext cx="4383876" cy="5585485"/>
          </a:xfrm>
          <a:prstGeom prst="rect">
            <a:avLst/>
          </a:prstGeom>
        </p:spPr>
      </p:pic>
      <p:sp>
        <p:nvSpPr>
          <p:cNvPr id="400672952" name=""/>
          <p:cNvSpPr txBox="1"/>
          <p:nvPr/>
        </p:nvSpPr>
        <p:spPr bwMode="auto">
          <a:xfrm rot="0" flipH="0" flipV="0">
            <a:off x="1706384" y="1008693"/>
            <a:ext cx="937022" cy="366119"/>
          </a:xfrm>
          <a:prstGeom prst="rect">
            <a:avLst/>
          </a:prstGeom>
          <a:solidFill>
            <a:schemeClr val="accent3"/>
          </a:solidFill>
          <a:ln w="19049">
            <a:solidFill>
              <a:srgbClr val="000000">
                <a:alpha val="99999"/>
              </a:srgb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/>
              <a:t>Accueil</a:t>
            </a:r>
            <a:endParaRPr/>
          </a:p>
        </p:txBody>
      </p:sp>
      <p:pic>
        <p:nvPicPr>
          <p:cNvPr id="23065292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559096" y="1509667"/>
            <a:ext cx="4406395" cy="5585485"/>
          </a:xfrm>
          <a:prstGeom prst="rect">
            <a:avLst/>
          </a:prstGeom>
        </p:spPr>
      </p:pic>
      <p:sp>
        <p:nvSpPr>
          <p:cNvPr id="1962655480" name=""/>
          <p:cNvSpPr txBox="1"/>
          <p:nvPr/>
        </p:nvSpPr>
        <p:spPr bwMode="auto">
          <a:xfrm rot="0" flipH="0" flipV="0">
            <a:off x="5936241" y="1008693"/>
            <a:ext cx="1652104" cy="366119"/>
          </a:xfrm>
          <a:prstGeom prst="rect">
            <a:avLst/>
          </a:prstGeom>
          <a:solidFill>
            <a:schemeClr val="accent3"/>
          </a:solidFill>
          <a:ln w="19049">
            <a:solidFill>
              <a:srgbClr val="000000">
                <a:alpha val="99999"/>
              </a:srgb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/>
              <a:t>Bibliothèque</a:t>
            </a:r>
            <a:endParaRPr/>
          </a:p>
        </p:txBody>
      </p:sp>
      <p:pic>
        <p:nvPicPr>
          <p:cNvPr id="210148716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030305" y="1509667"/>
            <a:ext cx="5403979" cy="5585485"/>
          </a:xfrm>
          <a:prstGeom prst="rect">
            <a:avLst/>
          </a:prstGeom>
        </p:spPr>
      </p:pic>
      <p:sp>
        <p:nvSpPr>
          <p:cNvPr id="1565669182" name=""/>
          <p:cNvSpPr txBox="1"/>
          <p:nvPr/>
        </p:nvSpPr>
        <p:spPr bwMode="auto">
          <a:xfrm rot="0" flipH="0" flipV="0">
            <a:off x="10906243" y="1008693"/>
            <a:ext cx="1660744" cy="366119"/>
          </a:xfrm>
          <a:prstGeom prst="rect">
            <a:avLst/>
          </a:prstGeom>
          <a:solidFill>
            <a:schemeClr val="accent3"/>
          </a:solidFill>
          <a:ln w="19049">
            <a:solidFill>
              <a:srgbClr val="000000">
                <a:alpha val="99999"/>
              </a:srgb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/>
              <a:t>Détail livre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552218" name="Text 0"/>
          <p:cNvSpPr/>
          <p:nvPr/>
        </p:nvSpPr>
        <p:spPr bwMode="auto">
          <a:xfrm>
            <a:off x="793789" y="174583"/>
            <a:ext cx="3707847" cy="74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49"/>
              </a:lnSpc>
              <a:buNone/>
              <a:defRPr/>
            </a:pPr>
            <a:r>
              <a:rPr lang="fr-FR" sz="44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Les Maquettes</a:t>
            </a:r>
            <a:endParaRPr lang="en-US" sz="4450"/>
          </a:p>
        </p:txBody>
      </p:sp>
      <p:sp>
        <p:nvSpPr>
          <p:cNvPr id="927047390" name=""/>
          <p:cNvSpPr txBox="1"/>
          <p:nvPr/>
        </p:nvSpPr>
        <p:spPr bwMode="auto">
          <a:xfrm rot="0" flipH="0" flipV="0">
            <a:off x="1706384" y="1008693"/>
            <a:ext cx="937022" cy="3661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49">
            <a:solidFill>
              <a:srgbClr val="000000">
                <a:alpha val="99999"/>
              </a:srgb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/>
              <a:t>Accueil</a:t>
            </a:r>
            <a:endParaRPr/>
          </a:p>
        </p:txBody>
      </p:sp>
      <p:sp>
        <p:nvSpPr>
          <p:cNvPr id="2026141160" name=""/>
          <p:cNvSpPr txBox="1"/>
          <p:nvPr/>
        </p:nvSpPr>
        <p:spPr bwMode="auto">
          <a:xfrm rot="0" flipH="0" flipV="0">
            <a:off x="5936241" y="1008693"/>
            <a:ext cx="1652104" cy="3661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49">
            <a:solidFill>
              <a:srgbClr val="000000">
                <a:alpha val="99999"/>
              </a:srgb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/>
              <a:t>Bibliothèque</a:t>
            </a:r>
            <a:endParaRPr/>
          </a:p>
        </p:txBody>
      </p:sp>
      <p:sp>
        <p:nvSpPr>
          <p:cNvPr id="1201924157" name=""/>
          <p:cNvSpPr txBox="1"/>
          <p:nvPr/>
        </p:nvSpPr>
        <p:spPr bwMode="auto">
          <a:xfrm rot="0" flipH="0" flipV="0">
            <a:off x="10906243" y="1008693"/>
            <a:ext cx="1660744" cy="3661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49">
            <a:solidFill>
              <a:srgbClr val="000000">
                <a:alpha val="99999"/>
              </a:srgb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/>
              <a:t>Détail livre</a:t>
            </a:r>
            <a:endParaRPr/>
          </a:p>
        </p:txBody>
      </p:sp>
      <p:pic>
        <p:nvPicPr>
          <p:cNvPr id="10413211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538" y="1496785"/>
            <a:ext cx="4746114" cy="6417142"/>
          </a:xfrm>
          <a:prstGeom prst="rect">
            <a:avLst/>
          </a:prstGeom>
        </p:spPr>
      </p:pic>
      <p:pic>
        <p:nvPicPr>
          <p:cNvPr id="839334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92653" y="1496785"/>
            <a:ext cx="4937448" cy="6417142"/>
          </a:xfrm>
          <a:prstGeom prst="rect">
            <a:avLst/>
          </a:prstGeom>
        </p:spPr>
      </p:pic>
      <p:pic>
        <p:nvPicPr>
          <p:cNvPr id="206756288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664967" y="1496785"/>
            <a:ext cx="4962339" cy="647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060002" name="Text 0"/>
          <p:cNvSpPr/>
          <p:nvPr/>
        </p:nvSpPr>
        <p:spPr bwMode="auto">
          <a:xfrm>
            <a:off x="793790" y="911185"/>
            <a:ext cx="70108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Prochaines Etapes : Sprint 1</a:t>
            </a:r>
            <a:endParaRPr lang="en-US" sz="4450"/>
          </a:p>
        </p:txBody>
      </p:sp>
      <p:sp>
        <p:nvSpPr>
          <p:cNvPr id="1157269960" name="Shape 1"/>
          <p:cNvSpPr/>
          <p:nvPr/>
        </p:nvSpPr>
        <p:spPr bwMode="auto">
          <a:xfrm>
            <a:off x="1133951" y="2640568"/>
            <a:ext cx="6067663" cy="226814"/>
          </a:xfrm>
          <a:prstGeom prst="roundRect">
            <a:avLst>
              <a:gd name="adj" fmla="val 4200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974425162" name="Shape 2"/>
          <p:cNvSpPr/>
          <p:nvPr/>
        </p:nvSpPr>
        <p:spPr bwMode="auto">
          <a:xfrm>
            <a:off x="793790" y="2413695"/>
            <a:ext cx="680441" cy="680441"/>
          </a:xfrm>
          <a:prstGeom prst="roundRect">
            <a:avLst>
              <a:gd name="adj" fmla="val 6719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255992316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963930" y="2583835"/>
            <a:ext cx="340162" cy="340162"/>
          </a:xfrm>
          <a:prstGeom prst="rect">
            <a:avLst/>
          </a:prstGeom>
        </p:spPr>
      </p:pic>
      <p:sp>
        <p:nvSpPr>
          <p:cNvPr id="2048025805" name="Text 3"/>
          <p:cNvSpPr/>
          <p:nvPr/>
        </p:nvSpPr>
        <p:spPr bwMode="auto">
          <a:xfrm>
            <a:off x="1020604" y="3321010"/>
            <a:ext cx="4378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Environnement de Développement</a:t>
            </a:r>
            <a:endParaRPr lang="en-US" sz="2200"/>
          </a:p>
        </p:txBody>
      </p:sp>
      <p:sp>
        <p:nvSpPr>
          <p:cNvPr id="1664190458" name="Text 4"/>
          <p:cNvSpPr/>
          <p:nvPr/>
        </p:nvSpPr>
        <p:spPr bwMode="auto">
          <a:xfrm>
            <a:off x="1020604" y="381142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Configuration Docker • Initialisation PostgreSQL • Setup Prisma</a:t>
            </a:r>
            <a:r>
              <a:rPr lang="fr-FR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75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•</a:t>
            </a:r>
            <a:r>
              <a:rPr lang="fr-FR" sz="175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 Configuration du linter ESLint</a:t>
            </a:r>
            <a:endParaRPr lang="en-US" sz="1750"/>
          </a:p>
        </p:txBody>
      </p:sp>
      <p:sp>
        <p:nvSpPr>
          <p:cNvPr id="1249705333" name="Shape 5"/>
          <p:cNvSpPr/>
          <p:nvPr/>
        </p:nvSpPr>
        <p:spPr bwMode="auto">
          <a:xfrm>
            <a:off x="7768709" y="2300407"/>
            <a:ext cx="6067782" cy="226814"/>
          </a:xfrm>
          <a:prstGeom prst="roundRect">
            <a:avLst>
              <a:gd name="adj" fmla="val 4200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82335460" name="Shape 6"/>
          <p:cNvSpPr/>
          <p:nvPr/>
        </p:nvSpPr>
        <p:spPr bwMode="auto">
          <a:xfrm>
            <a:off x="7428548" y="2073533"/>
            <a:ext cx="680441" cy="680441"/>
          </a:xfrm>
          <a:prstGeom prst="roundRect">
            <a:avLst>
              <a:gd name="adj" fmla="val 6719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1885364529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7598688" y="2243673"/>
            <a:ext cx="340162" cy="340162"/>
          </a:xfrm>
          <a:prstGeom prst="rect">
            <a:avLst/>
          </a:prstGeom>
        </p:spPr>
      </p:pic>
      <p:sp>
        <p:nvSpPr>
          <p:cNvPr id="763178391" name="Text 7"/>
          <p:cNvSpPr/>
          <p:nvPr/>
        </p:nvSpPr>
        <p:spPr bwMode="auto">
          <a:xfrm>
            <a:off x="7655362" y="2980849"/>
            <a:ext cx="3734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Structure de Base de Données</a:t>
            </a:r>
            <a:endParaRPr lang="en-US" sz="2200"/>
          </a:p>
        </p:txBody>
      </p:sp>
      <p:sp>
        <p:nvSpPr>
          <p:cNvPr id="2086085111" name="Text 8"/>
          <p:cNvSpPr/>
          <p:nvPr/>
        </p:nvSpPr>
        <p:spPr bwMode="auto">
          <a:xfrm flipH="0" flipV="0">
            <a:off x="7655361" y="3471266"/>
            <a:ext cx="62992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Modèles User, Book, LibraryItem • </a:t>
            </a:r>
            <a:r>
              <a:rPr lang="fr-FR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E</a:t>
            </a: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numération ReadingStatus</a:t>
            </a:r>
            <a:endParaRPr lang="en-US" sz="1750"/>
          </a:p>
        </p:txBody>
      </p:sp>
      <p:sp>
        <p:nvSpPr>
          <p:cNvPr id="84076319" name="Shape 9"/>
          <p:cNvSpPr/>
          <p:nvPr/>
        </p:nvSpPr>
        <p:spPr bwMode="auto">
          <a:xfrm>
            <a:off x="1133951" y="5557838"/>
            <a:ext cx="6067663" cy="226814"/>
          </a:xfrm>
          <a:prstGeom prst="roundRect">
            <a:avLst>
              <a:gd name="adj" fmla="val 4200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918393118" name="Shape 10"/>
          <p:cNvSpPr/>
          <p:nvPr/>
        </p:nvSpPr>
        <p:spPr bwMode="auto">
          <a:xfrm>
            <a:off x="793790" y="5330964"/>
            <a:ext cx="680441" cy="680441"/>
          </a:xfrm>
          <a:prstGeom prst="roundRect">
            <a:avLst>
              <a:gd name="adj" fmla="val 6719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174772854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963930" y="5501104"/>
            <a:ext cx="340162" cy="340162"/>
          </a:xfrm>
          <a:prstGeom prst="rect">
            <a:avLst/>
          </a:prstGeom>
        </p:spPr>
      </p:pic>
      <p:sp>
        <p:nvSpPr>
          <p:cNvPr id="1578873768" name="Text 11"/>
          <p:cNvSpPr/>
          <p:nvPr/>
        </p:nvSpPr>
        <p:spPr bwMode="auto">
          <a:xfrm>
            <a:off x="1020604" y="6238280"/>
            <a:ext cx="3192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Authentification Backend</a:t>
            </a:r>
            <a:endParaRPr lang="en-US" sz="2200"/>
          </a:p>
        </p:txBody>
      </p:sp>
      <p:sp>
        <p:nvSpPr>
          <p:cNvPr id="1455222655" name="Text 12"/>
          <p:cNvSpPr/>
          <p:nvPr/>
        </p:nvSpPr>
        <p:spPr bwMode="auto">
          <a:xfrm>
            <a:off x="1020604" y="672869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Routes register/login • Middleware JWT • Validation Zod</a:t>
            </a:r>
            <a:endParaRPr lang="en-US" sz="1750"/>
          </a:p>
        </p:txBody>
      </p:sp>
      <p:sp>
        <p:nvSpPr>
          <p:cNvPr id="1776469518" name="Shape 13"/>
          <p:cNvSpPr/>
          <p:nvPr/>
        </p:nvSpPr>
        <p:spPr bwMode="auto">
          <a:xfrm>
            <a:off x="7768709" y="5217676"/>
            <a:ext cx="6067782" cy="226814"/>
          </a:xfrm>
          <a:prstGeom prst="roundRect">
            <a:avLst>
              <a:gd name="adj" fmla="val 4200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077733587" name="Shape 14"/>
          <p:cNvSpPr/>
          <p:nvPr/>
        </p:nvSpPr>
        <p:spPr bwMode="auto">
          <a:xfrm>
            <a:off x="7428548" y="4990802"/>
            <a:ext cx="680441" cy="680441"/>
          </a:xfrm>
          <a:prstGeom prst="roundRect">
            <a:avLst>
              <a:gd name="adj" fmla="val 6719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316843676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7598688" y="5160943"/>
            <a:ext cx="340162" cy="340162"/>
          </a:xfrm>
          <a:prstGeom prst="rect">
            <a:avLst/>
          </a:prstGeom>
        </p:spPr>
      </p:pic>
      <p:sp>
        <p:nvSpPr>
          <p:cNvPr id="892987567" name="Text 15"/>
          <p:cNvSpPr/>
          <p:nvPr/>
        </p:nvSpPr>
        <p:spPr bwMode="auto">
          <a:xfrm>
            <a:off x="7655362" y="5898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Setup Frontend</a:t>
            </a:r>
            <a:endParaRPr lang="en-US" sz="2200"/>
          </a:p>
        </p:txBody>
      </p:sp>
      <p:sp>
        <p:nvSpPr>
          <p:cNvPr id="662153081" name="Text 16"/>
          <p:cNvSpPr/>
          <p:nvPr/>
        </p:nvSpPr>
        <p:spPr bwMode="auto">
          <a:xfrm>
            <a:off x="7655362" y="6388537"/>
            <a:ext cx="59544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Configuration Tailwind • Layout global • Landing page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994543" name="Text 0"/>
          <p:cNvSpPr/>
          <p:nvPr/>
        </p:nvSpPr>
        <p:spPr bwMode="auto">
          <a:xfrm>
            <a:off x="793790" y="681990"/>
            <a:ext cx="75647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Questions et Défis Techniques</a:t>
            </a:r>
            <a:endParaRPr lang="en-US" sz="4450"/>
          </a:p>
        </p:txBody>
      </p:sp>
      <p:sp>
        <p:nvSpPr>
          <p:cNvPr id="1657508181" name="Shape 1"/>
          <p:cNvSpPr/>
          <p:nvPr/>
        </p:nvSpPr>
        <p:spPr bwMode="auto">
          <a:xfrm>
            <a:off x="793789" y="1844397"/>
            <a:ext cx="6407943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323563945" name="Shape 2"/>
          <p:cNvSpPr/>
          <p:nvPr/>
        </p:nvSpPr>
        <p:spPr bwMode="auto">
          <a:xfrm>
            <a:off x="763310" y="1844397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64706712" name="Text 3"/>
          <p:cNvSpPr/>
          <p:nvPr/>
        </p:nvSpPr>
        <p:spPr bwMode="auto">
          <a:xfrm>
            <a:off x="1142524" y="2101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Storage JWT</a:t>
            </a:r>
            <a:endParaRPr lang="en-US" sz="2200"/>
          </a:p>
        </p:txBody>
      </p:sp>
      <p:sp>
        <p:nvSpPr>
          <p:cNvPr id="1348360436" name="Text 4"/>
          <p:cNvSpPr/>
          <p:nvPr/>
        </p:nvSpPr>
        <p:spPr bwMode="auto">
          <a:xfrm>
            <a:off x="1142524" y="259211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Choix de la stratégie : localStorage ou cookies sécurisés</a:t>
            </a:r>
            <a:endParaRPr lang="en-US" sz="1750"/>
          </a:p>
        </p:txBody>
      </p:sp>
      <p:sp>
        <p:nvSpPr>
          <p:cNvPr id="111349846" name="Shape 5"/>
          <p:cNvSpPr/>
          <p:nvPr/>
        </p:nvSpPr>
        <p:spPr bwMode="auto">
          <a:xfrm>
            <a:off x="7428548" y="1844397"/>
            <a:ext cx="6408062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473874107" name="Shape 6"/>
          <p:cNvSpPr/>
          <p:nvPr/>
        </p:nvSpPr>
        <p:spPr bwMode="auto">
          <a:xfrm>
            <a:off x="7398067" y="1844397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608352272" name="Text 7"/>
          <p:cNvSpPr/>
          <p:nvPr/>
        </p:nvSpPr>
        <p:spPr bwMode="auto">
          <a:xfrm flipH="0" flipV="0">
            <a:off x="7777281" y="2064250"/>
            <a:ext cx="5887998" cy="39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fr-FR" sz="220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Gestion</a:t>
            </a:r>
            <a:r>
              <a:rPr lang="en-US" sz="220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 </a:t>
            </a:r>
            <a:r>
              <a:rPr lang="fr-FR" sz="220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Des Images &amp; Genre littéraire </a:t>
            </a:r>
            <a:r>
              <a:rPr lang="fr-FR" sz="220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depuis</a:t>
            </a:r>
            <a:r>
              <a:rPr lang="fr-FR" sz="220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20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l'API</a:t>
            </a:r>
            <a:r>
              <a:rPr lang="fr-FR" sz="2200"/>
              <a:t> </a:t>
            </a:r>
            <a:endParaRPr lang="en-US" sz="2200"/>
          </a:p>
        </p:txBody>
      </p:sp>
      <p:sp>
        <p:nvSpPr>
          <p:cNvPr id="2114080481" name="Text 8"/>
          <p:cNvSpPr/>
          <p:nvPr/>
        </p:nvSpPr>
        <p:spPr bwMode="auto">
          <a:xfrm>
            <a:off x="7777281" y="2773561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Traitement des cas où l'API Open Library ne fournit pas d'image de couverture</a:t>
            </a:r>
            <a:r>
              <a:rPr lang="fr-FR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75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• </a:t>
            </a:r>
            <a:r>
              <a:rPr lang="fr-FR" sz="1750" b="0" i="0" u="none" strike="noStrike" cap="none" spc="0">
                <a:solidFill>
                  <a:srgbClr val="272525"/>
                </a:solidFill>
                <a:latin typeface="Lato"/>
                <a:ea typeface="Lato"/>
                <a:cs typeface="Lato"/>
              </a:rPr>
              <a:t>Récupération du genre littéraire</a:t>
            </a:r>
            <a:endParaRPr lang="en-US" sz="1750"/>
          </a:p>
        </p:txBody>
      </p:sp>
      <p:sp>
        <p:nvSpPr>
          <p:cNvPr id="168394646" name="Shape 9"/>
          <p:cNvSpPr/>
          <p:nvPr/>
        </p:nvSpPr>
        <p:spPr bwMode="auto">
          <a:xfrm>
            <a:off x="793790" y="3802023"/>
            <a:ext cx="6407943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543426804" name="Shape 10"/>
          <p:cNvSpPr/>
          <p:nvPr/>
        </p:nvSpPr>
        <p:spPr bwMode="auto">
          <a:xfrm>
            <a:off x="763310" y="380202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033341056" name="Text 11"/>
          <p:cNvSpPr/>
          <p:nvPr/>
        </p:nvSpPr>
        <p:spPr bwMode="auto">
          <a:xfrm>
            <a:off x="1142524" y="4059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Rate Limiting</a:t>
            </a:r>
            <a:endParaRPr lang="en-US" sz="2200"/>
          </a:p>
        </p:txBody>
      </p:sp>
      <p:sp>
        <p:nvSpPr>
          <p:cNvPr id="1594328536" name="Text 12"/>
          <p:cNvSpPr/>
          <p:nvPr/>
        </p:nvSpPr>
        <p:spPr bwMode="auto">
          <a:xfrm>
            <a:off x="1142524" y="454973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Gestion de la limitation de requêtes de l'API pour éviter les blocages</a:t>
            </a:r>
            <a:endParaRPr lang="en-US" sz="1750"/>
          </a:p>
        </p:txBody>
      </p:sp>
      <p:sp>
        <p:nvSpPr>
          <p:cNvPr id="1916536394" name="Shape 13"/>
          <p:cNvSpPr/>
          <p:nvPr/>
        </p:nvSpPr>
        <p:spPr bwMode="auto">
          <a:xfrm>
            <a:off x="7428548" y="3802023"/>
            <a:ext cx="6408062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152969679" name="Shape 14"/>
          <p:cNvSpPr/>
          <p:nvPr/>
        </p:nvSpPr>
        <p:spPr bwMode="auto">
          <a:xfrm>
            <a:off x="7398067" y="380202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674093827" name="Text 15"/>
          <p:cNvSpPr/>
          <p:nvPr/>
        </p:nvSpPr>
        <p:spPr bwMode="auto">
          <a:xfrm>
            <a:off x="7777282" y="4059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272525"/>
                </a:solidFill>
                <a:latin typeface="Gelasio"/>
                <a:ea typeface="Gelasio"/>
                <a:cs typeface="Gelasio"/>
              </a:rPr>
              <a:t>Déploiement</a:t>
            </a:r>
            <a:endParaRPr lang="en-US" sz="2200"/>
          </a:p>
        </p:txBody>
      </p:sp>
      <p:sp>
        <p:nvSpPr>
          <p:cNvPr id="249166225" name="Text 16"/>
          <p:cNvSpPr/>
          <p:nvPr/>
        </p:nvSpPr>
        <p:spPr bwMode="auto">
          <a:xfrm>
            <a:off x="7777282" y="454973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Validation des environnements et configuration du déploiement automatique</a:t>
            </a:r>
            <a:endParaRPr lang="en-US" sz="1750"/>
          </a:p>
        </p:txBody>
      </p:sp>
      <p:sp>
        <p:nvSpPr>
          <p:cNvPr id="2102004624" name="Shape 17"/>
          <p:cNvSpPr/>
          <p:nvPr/>
        </p:nvSpPr>
        <p:spPr bwMode="auto">
          <a:xfrm>
            <a:off x="793790" y="5901365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38263686" name="Text 18"/>
          <p:cNvSpPr/>
          <p:nvPr/>
        </p:nvSpPr>
        <p:spPr bwMode="auto">
          <a:xfrm>
            <a:off x="793790" y="627745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3550">
                <a:solidFill>
                  <a:srgbClr val="312F2B"/>
                </a:solidFill>
                <a:latin typeface="Gelasio"/>
                <a:ea typeface="Gelasio"/>
                <a:cs typeface="Gelasio"/>
              </a:rPr>
              <a:t>Questions ?</a:t>
            </a:r>
            <a:endParaRPr lang="en-US" sz="3550"/>
          </a:p>
        </p:txBody>
      </p:sp>
      <p:sp>
        <p:nvSpPr>
          <p:cNvPr id="1085788132" name="Text 19"/>
          <p:cNvSpPr/>
          <p:nvPr/>
        </p:nvSpPr>
        <p:spPr bwMode="auto">
          <a:xfrm>
            <a:off x="793790" y="71845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</a:rPr>
              <a:t>Prêt à construire la plateforme de gestion de bibliothèque la plus intuitive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3</cp:revision>
  <dcterms:created xsi:type="dcterms:W3CDTF">2026-03-12T23:18:08Z</dcterms:created>
  <dcterms:modified xsi:type="dcterms:W3CDTF">2026-03-13T11:14:19Z</dcterms:modified>
</cp:coreProperties>
</file>